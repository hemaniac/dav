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72600" y="822960"/>
            <a:ext cx="201168" cy="201168"/>
          </a:xfrm>
          <a:prstGeom prst="ellipse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1417320"/>
            <a:ext cx="146304" cy="146304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2468880"/>
            <a:ext cx="256032" cy="256032"/>
          </a:xfrm>
          <a:prstGeom prst="ellipse">
            <a:avLst/>
          </a:prstGeom>
          <a:solidFill>
            <a:srgbClr val="22A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44200" y="3154680"/>
            <a:ext cx="182880" cy="182880"/>
          </a:xfrm>
          <a:prstGeom prst="ellipse">
            <a:avLst/>
          </a:prstGeom>
          <a:solidFill>
            <a:srgbClr val="CA9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15400" y="3840480"/>
            <a:ext cx="164592" cy="164592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1240" y="4709160"/>
            <a:ext cx="228600" cy="228600"/>
          </a:xfrm>
          <a:prstGeom prst="ellipse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473184" y="923544"/>
            <a:ext cx="1069848" cy="566928"/>
          </a:xfrm>
          <a:prstGeom prst="line">
            <a:avLst/>
          </a:prstGeom>
          <a:ln w="13970">
            <a:solidFill>
              <a:srgbClr val="4A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73184" y="923544"/>
            <a:ext cx="393192" cy="1673352"/>
          </a:xfrm>
          <a:prstGeom prst="line">
            <a:avLst/>
          </a:prstGeom>
          <a:ln w="13970">
            <a:solidFill>
              <a:srgbClr val="4A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866376" y="1490472"/>
            <a:ext cx="676656" cy="1106424"/>
          </a:xfrm>
          <a:prstGeom prst="line">
            <a:avLst/>
          </a:prstGeom>
          <a:ln w="13970">
            <a:solidFill>
              <a:srgbClr val="4A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66376" y="2596896"/>
            <a:ext cx="969264" cy="649224"/>
          </a:xfrm>
          <a:prstGeom prst="line">
            <a:avLst/>
          </a:prstGeom>
          <a:ln w="13970">
            <a:solidFill>
              <a:srgbClr val="4A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997696" y="2596896"/>
            <a:ext cx="868680" cy="1325880"/>
          </a:xfrm>
          <a:prstGeom prst="line">
            <a:avLst/>
          </a:prstGeom>
          <a:ln w="13970">
            <a:solidFill>
              <a:srgbClr val="4A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035540" y="3246120"/>
            <a:ext cx="800100" cy="1577340"/>
          </a:xfrm>
          <a:prstGeom prst="line">
            <a:avLst/>
          </a:prstGeom>
          <a:ln w="13970">
            <a:solidFill>
              <a:srgbClr val="4A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97696" y="3922776"/>
            <a:ext cx="1037844" cy="900684"/>
          </a:xfrm>
          <a:prstGeom prst="line">
            <a:avLst/>
          </a:prstGeom>
          <a:ln w="13970">
            <a:solidFill>
              <a:srgbClr val="4A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1143000"/>
            <a:ext cx="530352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>
                <a:solidFill>
                  <a:srgbClr val="108F85"/>
                </a:solidFill>
                <a:latin typeface="Aptos"/>
              </a:rPr>
              <a:t>ENGINEERING CAPSTONE PROJECT –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645920"/>
            <a:ext cx="7680960" cy="12344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CUSTOMER
CHURN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127248"/>
            <a:ext cx="658368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550" b="0">
                <a:solidFill>
                  <a:srgbClr val="BFCCDC"/>
                </a:solidFill>
                <a:latin typeface="Aptos"/>
              </a:rPr>
              <a:t>A machine learning approach for identifying customers at risk of leaving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224528"/>
            <a:ext cx="5806440" cy="1170432"/>
          </a:xfrm>
          <a:prstGeom prst="roundRect">
            <a:avLst/>
          </a:prstGeom>
          <a:solidFill>
            <a:srgbClr val="19293F"/>
          </a:solidFill>
          <a:ln w="9525">
            <a:solidFill>
              <a:srgbClr val="35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62272"/>
            <a:ext cx="14173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108F85"/>
                </a:solidFill>
                <a:latin typeface="Aptos"/>
              </a:rPr>
              <a:t>PROJECT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48056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 Vaishnavi   •   Madhu   •   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02352"/>
            <a:ext cx="310896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0">
                <a:solidFill>
                  <a:srgbClr val="BFCCDC"/>
                </a:solidFill>
                <a:latin typeface="Aptos"/>
              </a:rPr>
              <a:t>Guide  |  Dr. Shivashri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6053328"/>
            <a:ext cx="1965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900" b="1">
                <a:solidFill>
                  <a:srgbClr val="BFCCDC"/>
                </a:solidFill>
                <a:latin typeface="Aptos"/>
              </a:rPr>
              <a:t>A.Y. 2026 –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53328"/>
            <a:ext cx="237744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BFCCDC"/>
                </a:solidFill>
                <a:latin typeface="Aptos"/>
              </a:rPr>
              <a:t>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Customer churn is not just a prediction task — it is a retention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02336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300" b="1">
                <a:solidFill>
                  <a:srgbClr val="101D31"/>
                </a:solidFill>
                <a:latin typeface="Aptos"/>
              </a:rPr>
              <a:t>When customers leave,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4572000" cy="9601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400" b="1">
                <a:solidFill>
                  <a:srgbClr val="108F85"/>
                </a:solidFill>
                <a:latin typeface="Aptos"/>
              </a:rPr>
              <a:t>revenue and long-term
customer relationships are affected.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730752"/>
            <a:ext cx="4800600" cy="9601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50" b="0">
                <a:solidFill>
                  <a:srgbClr val="637080"/>
                </a:solidFill>
                <a:latin typeface="Aptos"/>
              </a:rPr>
              <a:t>The project focuses on using customer data to recognize the likelihood of churn early enough to support proactive retention strategies.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74519"/>
            <a:ext cx="544068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148840"/>
            <a:ext cx="274320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FROM DATA TO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2697480"/>
            <a:ext cx="4251960" cy="438912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8544" y="2820924"/>
            <a:ext cx="4105656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>
                <a:solidFill>
                  <a:srgbClr val="108F85"/>
                </a:solidFill>
                <a:latin typeface="Aptos"/>
              </a:rPr>
              <a:t>Customer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136392"/>
            <a:ext cx="2286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00" b="1">
                <a:solidFill>
                  <a:srgbClr val="108F85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21424" y="3319272"/>
            <a:ext cx="3749040" cy="438912"/>
          </a:xfrm>
          <a:prstGeom prst="round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4576" y="3442716"/>
            <a:ext cx="3602736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>
                <a:solidFill>
                  <a:srgbClr val="3D69B1"/>
                </a:solidFill>
                <a:latin typeface="Aptos"/>
              </a:rPr>
              <a:t>Churn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758184"/>
            <a:ext cx="2286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00" b="1">
                <a:solidFill>
                  <a:srgbClr val="108F85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77456" y="3941064"/>
            <a:ext cx="3246120" cy="438912"/>
          </a:xfrm>
          <a:prstGeom prst="roundRect">
            <a:avLst/>
          </a:prstGeom>
          <a:solidFill>
            <a:srgbClr val="F9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8" y="4064508"/>
            <a:ext cx="3099816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>
                <a:solidFill>
                  <a:srgbClr val="CA9234"/>
                </a:solidFill>
                <a:latin typeface="Aptos"/>
              </a:rPr>
              <a:t>Risk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379976"/>
            <a:ext cx="2286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00" b="1">
                <a:solidFill>
                  <a:srgbClr val="108F85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4562856"/>
            <a:ext cx="2743200" cy="438912"/>
          </a:xfrm>
          <a:prstGeom prst="round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4686300"/>
            <a:ext cx="2596896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Retention insight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AIM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What the project will accomplish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A focused objective chain keeps the work measurable and technically grounded.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972800" cy="1024128"/>
          </a:xfrm>
          <a:prstGeom prst="round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12264"/>
            <a:ext cx="54864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108F85"/>
                </a:solidFill>
                <a:latin typeface="Aptos"/>
              </a:rPr>
              <a:t>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029968"/>
            <a:ext cx="955548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Develop a Customer Churn Prediction system using machine learning techniques and compare multiple classification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52578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42900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108F85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3401568"/>
            <a:ext cx="436168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80" b="1">
                <a:solidFill>
                  <a:srgbClr val="101D31"/>
                </a:solidFill>
                <a:latin typeface="Aptos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67911"/>
            <a:ext cx="4855464" cy="2743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37080"/>
                </a:solidFill>
                <a:latin typeface="Aptos"/>
              </a:rPr>
              <a:t>Handle missing values, encode categorical features and scale numerical attributes.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46120"/>
            <a:ext cx="52578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342900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3D69B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401568"/>
            <a:ext cx="436168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80" b="1">
                <a:solidFill>
                  <a:srgbClr val="101D31"/>
                </a:solidFill>
                <a:latin typeface="Aptos"/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867911"/>
            <a:ext cx="4855464" cy="2743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37080"/>
                </a:solidFill>
                <a:latin typeface="Aptos"/>
              </a:rPr>
              <a:t>Perform EDA to identify patterns and factors influencing customer churn.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72000"/>
            <a:ext cx="52578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75488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CA923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727448"/>
            <a:ext cx="436168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80" b="1">
                <a:solidFill>
                  <a:srgbClr val="101D31"/>
                </a:solidFill>
                <a:latin typeface="Aptos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193792"/>
            <a:ext cx="4855464" cy="2743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37080"/>
                </a:solidFill>
                <a:latin typeface="Aptos"/>
              </a:rPr>
              <a:t>Train multiple classification algorithms and evaluate their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572000"/>
            <a:ext cx="52578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475488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B94C4C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727448"/>
            <a:ext cx="4361688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80" b="1">
                <a:solidFill>
                  <a:srgbClr val="101D31"/>
                </a:solidFill>
                <a:latin typeface="Aptos"/>
              </a:rPr>
              <a:t>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5193792"/>
            <a:ext cx="4855464" cy="2743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37080"/>
                </a:solidFill>
                <a:latin typeface="Aptos"/>
              </a:rPr>
              <a:t>Select a strong-performing model and use it to predict likely churn.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Proposed end-to-end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Each stage contributes to a reliable churn-prediction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62763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2560320"/>
            <a:ext cx="493776" cy="493776"/>
          </a:xfrm>
          <a:prstGeom prst="ellipse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697480"/>
            <a:ext cx="49377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73552"/>
            <a:ext cx="1389888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20" b="1">
                <a:solidFill>
                  <a:srgbClr val="101D31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75887"/>
            <a:ext cx="1353312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19" b="0">
                <a:solidFill>
                  <a:srgbClr val="637080"/>
                </a:solidFill>
                <a:latin typeface="Aptos"/>
              </a:rPr>
              <a:t>Customer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3063240"/>
            <a:ext cx="2286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500" b="1">
                <a:solidFill>
                  <a:srgbClr val="108F8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2331720"/>
            <a:ext cx="162763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72384" y="2560320"/>
            <a:ext cx="493776" cy="493776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2697480"/>
            <a:ext cx="49377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3273552"/>
            <a:ext cx="1389888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20" b="1">
                <a:solidFill>
                  <a:srgbClr val="101D31"/>
                </a:solidFill>
                <a:latin typeface="Aptos"/>
              </a:rPr>
              <a:t>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3675887"/>
            <a:ext cx="1353312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19" b="0">
                <a:solidFill>
                  <a:srgbClr val="637080"/>
                </a:solidFill>
                <a:latin typeface="Aptos"/>
              </a:rPr>
              <a:t>Clean • encode •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4" y="3063240"/>
            <a:ext cx="2286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500" b="1">
                <a:solidFill>
                  <a:srgbClr val="108F85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984" y="2331720"/>
            <a:ext cx="162763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10912" y="2560320"/>
            <a:ext cx="493776" cy="493776"/>
          </a:xfrm>
          <a:prstGeom prst="ellipse">
            <a:avLst/>
          </a:prstGeom>
          <a:solidFill>
            <a:srgbClr val="CA9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2" y="2697480"/>
            <a:ext cx="49377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3273552"/>
            <a:ext cx="1389888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20" b="1">
                <a:solidFill>
                  <a:srgbClr val="101D31"/>
                </a:solidFill>
                <a:latin typeface="Aptos"/>
              </a:rPr>
              <a:t>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3675887"/>
            <a:ext cx="1353312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19" b="0">
                <a:solidFill>
                  <a:srgbClr val="637080"/>
                </a:solidFill>
                <a:latin typeface="Aptos"/>
              </a:rPr>
              <a:t>Patterns &amp; factors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063240"/>
            <a:ext cx="2286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500" b="1">
                <a:solidFill>
                  <a:srgbClr val="108F85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2331720"/>
            <a:ext cx="162763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9440" y="2560320"/>
            <a:ext cx="493776" cy="493776"/>
          </a:xfrm>
          <a:prstGeom prst="ellipse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697480"/>
            <a:ext cx="49377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273552"/>
            <a:ext cx="1389888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20" b="1">
                <a:solidFill>
                  <a:srgbClr val="101D31"/>
                </a:solidFill>
                <a:latin typeface="Aptos"/>
              </a:rPr>
              <a:t>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675887"/>
            <a:ext cx="1353312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19" b="0">
                <a:solidFill>
                  <a:srgbClr val="637080"/>
                </a:solidFill>
                <a:latin typeface="Aptos"/>
              </a:rPr>
              <a:t>Classification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063240"/>
            <a:ext cx="2286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500" b="1">
                <a:solidFill>
                  <a:srgbClr val="108F85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331720"/>
            <a:ext cx="162763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87967" y="2560320"/>
            <a:ext cx="493776" cy="493776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7" y="2697480"/>
            <a:ext cx="49377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3273552"/>
            <a:ext cx="1389888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20" b="1">
                <a:solidFill>
                  <a:srgbClr val="101D31"/>
                </a:solidFill>
                <a:latin typeface="Aptos"/>
              </a:rPr>
              <a:t>EVALUATE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675887"/>
            <a:ext cx="1353312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19" b="0">
                <a:solidFill>
                  <a:srgbClr val="637080"/>
                </a:solidFill>
                <a:latin typeface="Aptos"/>
              </a:rPr>
              <a:t>5 performance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85248" y="3063240"/>
            <a:ext cx="2286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500" b="1">
                <a:solidFill>
                  <a:srgbClr val="108F85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59568" y="2331720"/>
            <a:ext cx="1627632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26496" y="2560320"/>
            <a:ext cx="493776" cy="493776"/>
          </a:xfrm>
          <a:prstGeom prst="ellipse">
            <a:avLst/>
          </a:prstGeom>
          <a:solidFill>
            <a:srgbClr val="CA9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26496" y="2697480"/>
            <a:ext cx="49377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3273552"/>
            <a:ext cx="1389888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20" b="1">
                <a:solidFill>
                  <a:srgbClr val="101D31"/>
                </a:solidFill>
                <a:latin typeface="Aptos"/>
              </a:rPr>
              <a:t>PREDICT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96728" y="3675887"/>
            <a:ext cx="1353312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19" b="0">
                <a:solidFill>
                  <a:srgbClr val="637080"/>
                </a:solidFill>
                <a:latin typeface="Aptos"/>
              </a:rPr>
              <a:t>Likely churn / not churn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0" y="4709160"/>
            <a:ext cx="8549640" cy="822960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03120" y="4919472"/>
            <a:ext cx="11887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19" b="1">
                <a:solidFill>
                  <a:srgbClr val="108F85"/>
                </a:solidFill>
                <a:latin typeface="Aptos"/>
              </a:rPr>
              <a:t>KEY PRINCIPLE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855464"/>
            <a:ext cx="64922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233042"/>
                </a:solidFill>
                <a:latin typeface="Aptos"/>
              </a:rPr>
              <a:t>Preprocessing and EDA establish the foundation before model training and evaluation.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Preparing customer data for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The abstract explicitly identifies three core preprocessing operations.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39696"/>
            <a:ext cx="502920" cy="502920"/>
          </a:xfrm>
          <a:prstGeom prst="ellipse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502920" cy="12801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84832"/>
            <a:ext cx="338328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101D31"/>
                </a:solidFill>
                <a:latin typeface="Aptos"/>
              </a:rPr>
              <a:t>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50592"/>
            <a:ext cx="3657600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37080"/>
                </a:solidFill>
                <a:latin typeface="Aptos"/>
              </a:rPr>
              <a:t>Handle incomplete data before modeling.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2980" y="2670048"/>
            <a:ext cx="0" cy="374904"/>
          </a:xfrm>
          <a:prstGeom prst="line">
            <a:avLst/>
          </a:prstGeom>
          <a:ln w="1524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20" y="3218688"/>
            <a:ext cx="502920" cy="502920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92424"/>
            <a:ext cx="502920" cy="12801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63824"/>
            <a:ext cx="338328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101D31"/>
                </a:solidFill>
                <a:latin typeface="Aptos"/>
              </a:rPr>
              <a:t>Categorical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9584"/>
            <a:ext cx="3657600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37080"/>
                </a:solidFill>
                <a:latin typeface="Aptos"/>
              </a:rPr>
              <a:t>Convert categorical attributes into a model-usable representation.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2980" y="3749039"/>
            <a:ext cx="0" cy="374905"/>
          </a:xfrm>
          <a:prstGeom prst="line">
            <a:avLst/>
          </a:prstGeom>
          <a:ln w="15240">
            <a:solidFill>
              <a:srgbClr val="DD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CA9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71416"/>
            <a:ext cx="502920" cy="12801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42816"/>
            <a:ext cx="338328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101D31"/>
                </a:solidFill>
                <a:latin typeface="Aptos"/>
              </a:rPr>
              <a:t>Numerical 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08576"/>
            <a:ext cx="3657600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37080"/>
                </a:solidFill>
                <a:latin typeface="Aptos"/>
              </a:rPr>
              <a:t>Bring numerical attributes onto an appropriate scale.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993392"/>
            <a:ext cx="498348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286000"/>
            <a:ext cx="347472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108F85"/>
                </a:solidFill>
                <a:latin typeface="Aptos"/>
              </a:rPr>
              <a:t>WHY PREPROCESSING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743200"/>
            <a:ext cx="4160520" cy="1965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108F85"/>
                </a:solidFill>
                <a:latin typeface="Aptos"/>
              </a:rPr>
              <a:t>● </a:t>
            </a:r>
            <a:r>
              <a:rPr sz="1150">
                <a:solidFill>
                  <a:srgbClr val="233042"/>
                </a:solidFill>
                <a:latin typeface="Aptos"/>
              </a:rPr>
              <a:t>Reduces issues caused by incomplete records.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08F85"/>
                </a:solidFill>
                <a:latin typeface="Aptos"/>
              </a:rPr>
              <a:t>● </a:t>
            </a:r>
            <a:r>
              <a:rPr sz="1150">
                <a:solidFill>
                  <a:srgbClr val="233042"/>
                </a:solidFill>
                <a:latin typeface="Aptos"/>
              </a:rPr>
              <a:t>Transforms categorical information into usable features.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08F85"/>
                </a:solidFill>
                <a:latin typeface="Aptos"/>
              </a:rPr>
              <a:t>● </a:t>
            </a:r>
            <a:r>
              <a:rPr sz="1150">
                <a:solidFill>
                  <a:srgbClr val="233042"/>
                </a:solidFill>
                <a:latin typeface="Aptos"/>
              </a:rPr>
              <a:t>Improves consistency of numerical inputs.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08F85"/>
                </a:solidFill>
                <a:latin typeface="Aptos"/>
              </a:rPr>
              <a:t>● </a:t>
            </a:r>
            <a:r>
              <a:rPr sz="1150">
                <a:solidFill>
                  <a:srgbClr val="233042"/>
                </a:solidFill>
                <a:latin typeface="Aptos"/>
              </a:rPr>
              <a:t>Creates a cleaner foundation for fair model comparison.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956048"/>
            <a:ext cx="416052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30" b="0">
                <a:solidFill>
                  <a:srgbClr val="637080"/>
                </a:solidFill>
                <a:latin typeface="Aptos"/>
              </a:rPr>
              <a:t>The exact preprocessing choices will depend on the dataset used.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Understanding what drives churn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EDA is used to uncover patterns and factors influencing customer attrition.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6629400" cy="3520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28600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3D69B1"/>
                </a:solidFill>
                <a:latin typeface="Aptos"/>
              </a:rPr>
              <a:t>CONCEPTUAL EDA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0116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>
                <a:solidFill>
                  <a:srgbClr val="101D31"/>
                </a:solidFill>
                <a:latin typeface="Aptos"/>
              </a:rPr>
              <a:t>Churn by customer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3566160"/>
            <a:ext cx="256032" cy="5029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3246120"/>
            <a:ext cx="256032" cy="822960"/>
          </a:xfrm>
          <a:prstGeom prst="rect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0512" y="3410712"/>
            <a:ext cx="256032" cy="658368"/>
          </a:xfrm>
          <a:prstGeom prst="rect">
            <a:avLst/>
          </a:prstGeom>
          <a:solidFill>
            <a:srgbClr val="CA9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03704" y="3685032"/>
            <a:ext cx="256032" cy="384048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7"/>
            <a:ext cx="182880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0">
                <a:solidFill>
                  <a:srgbClr val="637080"/>
                </a:solidFill>
                <a:latin typeface="Aptos"/>
              </a:rPr>
              <a:t>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651760"/>
            <a:ext cx="24688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>
                <a:solidFill>
                  <a:srgbClr val="101D31"/>
                </a:solidFill>
                <a:latin typeface="Aptos"/>
              </a:rPr>
              <a:t>Pattern across a customer feature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926080" y="3584448"/>
            <a:ext cx="548640" cy="301752"/>
          </a:xfrm>
          <a:prstGeom prst="line">
            <a:avLst/>
          </a:prstGeom>
          <a:ln w="25400">
            <a:solidFill>
              <a:srgbClr val="3D6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74720" y="3584448"/>
            <a:ext cx="502919" cy="146304"/>
          </a:xfrm>
          <a:prstGeom prst="line">
            <a:avLst/>
          </a:prstGeom>
          <a:ln w="25400">
            <a:solidFill>
              <a:srgbClr val="3D6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977639" y="3154680"/>
            <a:ext cx="502921" cy="576072"/>
          </a:xfrm>
          <a:prstGeom prst="line">
            <a:avLst/>
          </a:prstGeom>
          <a:ln w="25400">
            <a:solidFill>
              <a:srgbClr val="3D6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0560" y="3154680"/>
            <a:ext cx="502920" cy="155448"/>
          </a:xfrm>
          <a:prstGeom prst="line">
            <a:avLst/>
          </a:prstGeom>
          <a:ln w="25400">
            <a:solidFill>
              <a:srgbClr val="3D6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83480" y="2816352"/>
            <a:ext cx="548640" cy="493776"/>
          </a:xfrm>
          <a:prstGeom prst="line">
            <a:avLst/>
          </a:prstGeom>
          <a:ln w="25400">
            <a:solidFill>
              <a:srgbClr val="3D6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889504" y="3849624"/>
            <a:ext cx="73152" cy="73152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38144" y="3547872"/>
            <a:ext cx="73152" cy="73152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41063" y="3694176"/>
            <a:ext cx="73152" cy="73152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43984" y="3118104"/>
            <a:ext cx="73152" cy="73152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46904" y="3273552"/>
            <a:ext cx="73152" cy="73152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95544" y="2779776"/>
            <a:ext cx="73152" cy="73152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51960"/>
            <a:ext cx="20116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>
                <a:solidFill>
                  <a:srgbClr val="101D31"/>
                </a:solidFill>
                <a:latin typeface="Aptos"/>
              </a:rPr>
              <a:t>Feature relationships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590288"/>
            <a:ext cx="256032" cy="192024"/>
          </a:xfrm>
          <a:prstGeom prst="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28616" y="4590288"/>
            <a:ext cx="256032" cy="192024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39512" y="4590288"/>
            <a:ext cx="256032" cy="192024"/>
          </a:xfrm>
          <a:prstGeom prst="rect">
            <a:avLst/>
          </a:prstGeom>
          <a:solidFill>
            <a:srgbClr val="F9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0408" y="4590288"/>
            <a:ext cx="256032" cy="192024"/>
          </a:xfrm>
          <a:prstGeom prst="rect">
            <a:avLst/>
          </a:prstGeom>
          <a:solidFill>
            <a:srgbClr val="F9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4837175"/>
            <a:ext cx="256032" cy="192024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28616" y="4837175"/>
            <a:ext cx="256032" cy="192024"/>
          </a:xfrm>
          <a:prstGeom prst="rect">
            <a:avLst/>
          </a:prstGeom>
          <a:solidFill>
            <a:srgbClr val="F9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39512" y="4837175"/>
            <a:ext cx="256032" cy="192024"/>
          </a:xfrm>
          <a:prstGeom prst="rect">
            <a:avLst/>
          </a:prstGeom>
          <a:solidFill>
            <a:srgbClr val="F9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50408" y="4837175"/>
            <a:ext cx="256032" cy="192024"/>
          </a:xfrm>
          <a:prstGeom prst="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5084064"/>
            <a:ext cx="256032" cy="192024"/>
          </a:xfrm>
          <a:prstGeom prst="rect">
            <a:avLst/>
          </a:prstGeom>
          <a:solidFill>
            <a:srgbClr val="F9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28616" y="5084064"/>
            <a:ext cx="256032" cy="192024"/>
          </a:xfrm>
          <a:prstGeom prst="rect">
            <a:avLst/>
          </a:prstGeom>
          <a:solidFill>
            <a:srgbClr val="F9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39512" y="5084064"/>
            <a:ext cx="256032" cy="192024"/>
          </a:xfrm>
          <a:prstGeom prst="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50408" y="5084064"/>
            <a:ext cx="256032" cy="192024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02352"/>
            <a:ext cx="530352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70" b="0">
                <a:solidFill>
                  <a:srgbClr val="637080"/>
                </a:solidFill>
                <a:latin typeface="Aptos"/>
              </a:rPr>
              <a:t>Illustrative visual structure — not measured results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07808" y="1938528"/>
            <a:ext cx="3794760" cy="3520440"/>
          </a:xfrm>
          <a:prstGeom prst="round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36992" y="2304288"/>
            <a:ext cx="301752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EDA SHOULD ANSWER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36992" y="2743200"/>
            <a:ext cx="3063240" cy="11430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Which customer characteristics
show meaningful differences
between churn and retention?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992" y="4315968"/>
            <a:ext cx="2971800" cy="5943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BECBDC"/>
                </a:solidFill>
                <a:latin typeface="Aptos"/>
              </a:rPr>
              <a:t>The analysis then informs feature understanding and model interpretation.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MODEL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A deliberate comparison of six classifiers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Different classification approaches are evaluated on the same churn-prediction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342900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203704"/>
            <a:ext cx="530352" cy="310896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72284"/>
            <a:ext cx="420623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108F85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57984"/>
            <a:ext cx="22860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70" b="1">
                <a:solidFill>
                  <a:srgbClr val="101D31"/>
                </a:solidFill>
                <a:latin typeface="Aptos"/>
              </a:rP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23744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30" b="0">
                <a:solidFill>
                  <a:srgbClr val="637080"/>
                </a:solidFill>
                <a:latin typeface="Aptos"/>
              </a:rPr>
              <a:t>Linear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993392"/>
            <a:ext cx="342900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2203704"/>
            <a:ext cx="530352" cy="310896"/>
          </a:xfrm>
          <a:prstGeom prst="round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2272284"/>
            <a:ext cx="420623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3D69B1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157984"/>
            <a:ext cx="22860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70" b="1">
                <a:solidFill>
                  <a:srgbClr val="101D31"/>
                </a:solidFill>
                <a:latin typeface="Aptos"/>
              </a:rPr>
              <a:t>Decision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523744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30" b="0">
                <a:solidFill>
                  <a:srgbClr val="637080"/>
                </a:solidFill>
                <a:latin typeface="Aptos"/>
              </a:rPr>
              <a:t>Rule-based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993392"/>
            <a:ext cx="342900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2203704"/>
            <a:ext cx="530352" cy="310896"/>
          </a:xfrm>
          <a:prstGeom prst="roundRect">
            <a:avLst/>
          </a:prstGeom>
          <a:solidFill>
            <a:srgbClr val="F9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2272284"/>
            <a:ext cx="420623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CA923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157984"/>
            <a:ext cx="22860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70" b="1">
                <a:solidFill>
                  <a:srgbClr val="101D31"/>
                </a:solidFill>
                <a:latin typeface="Aptos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523744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30" b="0">
                <a:solidFill>
                  <a:srgbClr val="637080"/>
                </a:solidFill>
                <a:latin typeface="Aptos"/>
              </a:rPr>
              <a:t>Tree ensemble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74720"/>
            <a:ext cx="342900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" y="3685032"/>
            <a:ext cx="530352" cy="310896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3612"/>
            <a:ext cx="420623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108F85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639312"/>
            <a:ext cx="22860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70" b="1">
                <a:solidFill>
                  <a:srgbClr val="101D31"/>
                </a:solidFill>
                <a:latin typeface="Aptos"/>
              </a:rPr>
              <a:t>Support Vector Machine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05072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30" b="0">
                <a:solidFill>
                  <a:srgbClr val="637080"/>
                </a:solidFill>
                <a:latin typeface="Aptos"/>
              </a:rPr>
              <a:t>Margin-based classifier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474720"/>
            <a:ext cx="342900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26864" y="3685032"/>
            <a:ext cx="530352" cy="310896"/>
          </a:xfrm>
          <a:prstGeom prst="round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7" y="3753612"/>
            <a:ext cx="420623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3D69B1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3639312"/>
            <a:ext cx="22860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70" b="1">
                <a:solidFill>
                  <a:srgbClr val="101D31"/>
                </a:solidFill>
                <a:latin typeface="Aptos"/>
              </a:rPr>
              <a:t>K-Nearest Neighbors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4005072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30" b="0">
                <a:solidFill>
                  <a:srgbClr val="637080"/>
                </a:solidFill>
                <a:latin typeface="Aptos"/>
              </a:rPr>
              <a:t>Neighbor-based classifier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3474720"/>
            <a:ext cx="342900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94192" y="3685032"/>
            <a:ext cx="530352" cy="310896"/>
          </a:xfrm>
          <a:prstGeom prst="roundRect">
            <a:avLst/>
          </a:prstGeom>
          <a:solidFill>
            <a:srgbClr val="F9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9056" y="3753612"/>
            <a:ext cx="420623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CA9234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3639312"/>
            <a:ext cx="228600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70" b="1">
                <a:solidFill>
                  <a:srgbClr val="101D31"/>
                </a:solidFill>
                <a:latin typeface="Aptos"/>
              </a:rPr>
              <a:t>XGBoost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4005072"/>
            <a:ext cx="2194560" cy="2194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30" b="0">
                <a:solidFill>
                  <a:srgbClr val="637080"/>
                </a:solidFill>
                <a:latin typeface="Aptos"/>
              </a:rPr>
              <a:t>Boosted tree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25880" y="5321808"/>
            <a:ext cx="9555480" cy="566928"/>
          </a:xfrm>
          <a:prstGeom prst="round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72768" y="5504688"/>
            <a:ext cx="155448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00" b="1">
                <a:solidFill>
                  <a:srgbClr val="108F85"/>
                </a:solidFill>
                <a:latin typeface="Aptos"/>
              </a:rPr>
              <a:t>COMPARISON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0128" y="5440680"/>
            <a:ext cx="7040880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Train → evaluate → compare → select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Performance must be judged from multiple 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The project compares Accuracy, Precision, Recall, F1-Score and ROC-AUC.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883664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07007" y="2304288"/>
            <a:ext cx="749808" cy="438912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7" y="2450592"/>
            <a:ext cx="749808" cy="12801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108F85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99232"/>
            <a:ext cx="1591056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>
                <a:solidFill>
                  <a:srgbClr val="101D31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502152"/>
            <a:ext cx="1554480" cy="6583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>
                <a:solidFill>
                  <a:srgbClr val="637080"/>
                </a:solidFill>
                <a:latin typeface="Aptos"/>
              </a:rPr>
              <a:t>Overall correctness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6936" y="2057400"/>
            <a:ext cx="1883664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83864" y="2304288"/>
            <a:ext cx="749808" cy="438912"/>
          </a:xfrm>
          <a:prstGeom prst="round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450592"/>
            <a:ext cx="749808" cy="12801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3D69B1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999232"/>
            <a:ext cx="1591056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>
                <a:solidFill>
                  <a:srgbClr val="101D31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3502152"/>
            <a:ext cx="1554480" cy="6583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>
                <a:solidFill>
                  <a:srgbClr val="637080"/>
                </a:solidFill>
                <a:latin typeface="Aptos"/>
              </a:rPr>
              <a:t>Correct positive predictions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2057400"/>
            <a:ext cx="1883664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60720" y="2304288"/>
            <a:ext cx="749808" cy="438912"/>
          </a:xfrm>
          <a:prstGeom prst="roundRect">
            <a:avLst/>
          </a:prstGeom>
          <a:solidFill>
            <a:srgbClr val="F9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450592"/>
            <a:ext cx="749808" cy="12801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CA923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999232"/>
            <a:ext cx="1591056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>
                <a:solidFill>
                  <a:srgbClr val="101D31"/>
                </a:solidFill>
                <a:latin typeface="Aptos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502152"/>
            <a:ext cx="1554480" cy="6583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>
                <a:solidFill>
                  <a:srgbClr val="637080"/>
                </a:solidFill>
                <a:latin typeface="Aptos"/>
              </a:rPr>
              <a:t>Churn cases captured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0648" y="2057400"/>
            <a:ext cx="1883664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37575" y="2304288"/>
            <a:ext cx="749808" cy="438912"/>
          </a:xfrm>
          <a:prstGeom prst="roundRect">
            <a:avLst/>
          </a:prstGeom>
          <a:solidFill>
            <a:srgbClr val="F9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7575" y="2450592"/>
            <a:ext cx="749808" cy="12801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B94C4C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999232"/>
            <a:ext cx="1591056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>
                <a:solidFill>
                  <a:srgbClr val="101D31"/>
                </a:solidFill>
                <a:latin typeface="Aptos"/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502152"/>
            <a:ext cx="1554480" cy="6583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>
                <a:solidFill>
                  <a:srgbClr val="637080"/>
                </a:solidFill>
                <a:latin typeface="Aptos"/>
              </a:rPr>
              <a:t>Precision–recall balance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7504" y="2057400"/>
            <a:ext cx="1883664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14432" y="2304288"/>
            <a:ext cx="749808" cy="438912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14432" y="2450592"/>
            <a:ext cx="749808" cy="12801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750" b="1">
                <a:solidFill>
                  <a:srgbClr val="108F85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2999232"/>
            <a:ext cx="1591056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>
                <a:solidFill>
                  <a:srgbClr val="101D31"/>
                </a:solidFill>
                <a:latin typeface="Aptos"/>
              </a:rPr>
              <a:t>ROC-AUC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3502152"/>
            <a:ext cx="1554480" cy="6583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>
                <a:solidFill>
                  <a:srgbClr val="637080"/>
                </a:solidFill>
                <a:latin typeface="Aptos"/>
              </a:rPr>
              <a:t>Discrimination 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230368"/>
            <a:ext cx="292608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>
                <a:solidFill>
                  <a:srgbClr val="108F85"/>
                </a:solidFill>
                <a:latin typeface="Aptos"/>
              </a:rPr>
              <a:t>Why not rely on accuracy alone?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166360"/>
            <a:ext cx="7315200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50" b="1">
                <a:solidFill>
                  <a:srgbClr val="233042"/>
                </a:solidFill>
                <a:latin typeface="Aptos"/>
              </a:rPr>
              <a:t>Churn prediction is a classification problem, so several complementary metrics are used to compare model behaviour.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SELECTION &amp;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The model is only useful if its output can be understood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The project combines model comparison with identification of factors contributing to attrition.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07492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01168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>
                <a:solidFill>
                  <a:srgbClr val="108F85"/>
                </a:solidFill>
                <a:latin typeface="Aptos"/>
              </a:rPr>
              <a:t>MODEL SELECTION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724912"/>
            <a:ext cx="384048" cy="384048"/>
          </a:xfrm>
          <a:prstGeom prst="ellipse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384048" cy="1097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752344"/>
            <a:ext cx="356616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>
                <a:solidFill>
                  <a:srgbClr val="233042"/>
                </a:solidFill>
                <a:latin typeface="Aptos"/>
              </a:rPr>
              <a:t>Train all candidate classifiers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346704"/>
            <a:ext cx="384048" cy="384048"/>
          </a:xfrm>
          <a:prstGeom prst="ellipse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56432"/>
            <a:ext cx="384048" cy="1097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374136"/>
            <a:ext cx="356616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>
                <a:solidFill>
                  <a:srgbClr val="233042"/>
                </a:solidFill>
                <a:latin typeface="Aptos"/>
              </a:rPr>
              <a:t>Evaluate using five metrics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968496"/>
            <a:ext cx="384048" cy="384048"/>
          </a:xfrm>
          <a:prstGeom prst="ellipse">
            <a:avLst/>
          </a:prstGeom>
          <a:solidFill>
            <a:srgbClr val="CA9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384048" cy="1097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95928"/>
            <a:ext cx="356616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>
                <a:solidFill>
                  <a:srgbClr val="233042"/>
                </a:solidFill>
                <a:latin typeface="Aptos"/>
              </a:rPr>
              <a:t>Compare performance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590288"/>
            <a:ext cx="384048" cy="384048"/>
          </a:xfrm>
          <a:prstGeom prst="ellipse">
            <a:avLst/>
          </a:prstGeom>
          <a:solidFill>
            <a:srgbClr val="B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00016"/>
            <a:ext cx="384048" cy="1097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617720"/>
            <a:ext cx="356616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>
                <a:solidFill>
                  <a:srgbClr val="233042"/>
                </a:solidFill>
                <a:latin typeface="Aptos"/>
              </a:rPr>
              <a:t>Select the best-performing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920240"/>
            <a:ext cx="5303520" cy="3611880"/>
          </a:xfrm>
          <a:prstGeom prst="round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212848"/>
            <a:ext cx="256032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>
                <a:solidFill>
                  <a:srgbClr val="108F85"/>
                </a:solidFill>
                <a:latin typeface="Aptos"/>
              </a:rPr>
              <a:t>INTERPRETATION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70048"/>
            <a:ext cx="4297680" cy="7315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What factors are associated
with customer attrition?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75887"/>
            <a:ext cx="4297680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980" b="1">
                <a:solidFill>
                  <a:srgbClr val="108F85"/>
                </a:solidFill>
                <a:latin typeface="Aptos"/>
              </a:rPr>
              <a:t>● </a:t>
            </a:r>
            <a:r>
              <a:rPr sz="1080">
                <a:solidFill>
                  <a:srgbClr val="233042"/>
                </a:solidFill>
                <a:latin typeface="Aptos"/>
              </a:rPr>
              <a:t>Identify key factors contributing to churn.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08F85"/>
                </a:solidFill>
                <a:latin typeface="Aptos"/>
              </a:rPr>
              <a:t>● </a:t>
            </a:r>
            <a:r>
              <a:rPr sz="1080">
                <a:solidFill>
                  <a:srgbClr val="233042"/>
                </a:solidFill>
                <a:latin typeface="Aptos"/>
              </a:rPr>
              <a:t>Connect model output with customer patterns.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08F85"/>
                </a:solidFill>
                <a:latin typeface="Aptos"/>
              </a:rPr>
              <a:t>● </a:t>
            </a:r>
            <a:r>
              <a:rPr sz="1080">
                <a:solidFill>
                  <a:srgbClr val="233042"/>
                </a:solidFill>
                <a:latin typeface="Aptos"/>
              </a:rPr>
              <a:t>Use insights to support data-driven retention strategies.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310896" cy="45720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384048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502920"/>
            <a:ext cx="310896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637080"/>
                </a:solidFill>
                <a:latin typeface="Aptos"/>
              </a:rPr>
              <a:t>EXPECTED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700" b="1">
                <a:solidFill>
                  <a:srgbClr val="101D31"/>
                </a:solidFill>
                <a:latin typeface="Aptos"/>
              </a:rPr>
              <a:t>What the project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10607040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0">
                <a:solidFill>
                  <a:srgbClr val="637080"/>
                </a:solidFill>
                <a:latin typeface="Aptos"/>
              </a:rPr>
              <a:t>The intended contribution is a complete, data-driven approach to identifying customers at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36499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3364992" cy="64008"/>
          </a:xfrm>
          <a:prstGeom prst="rect">
            <a:avLst/>
          </a:prstGeom>
          <a:solidFill>
            <a:srgbClr val="10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283464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101D31"/>
                </a:solidFill>
                <a:latin typeface="Aptos"/>
              </a:rPr>
              <a:t>RISK IDENTIFICATION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788920" cy="10972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637080"/>
                </a:solidFill>
                <a:latin typeface="Aptos"/>
              </a:rPr>
              <a:t>An efficient approach for identifying customers who are likely to leave.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1325880" cy="310896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503420"/>
            <a:ext cx="1216152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108F85"/>
                </a:solidFill>
                <a:latin typeface="Aptos"/>
              </a:rPr>
              <a:t>PROJECT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2011680"/>
            <a:ext cx="336499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2011680"/>
            <a:ext cx="3364992" cy="64008"/>
          </a:xfrm>
          <a:prstGeom prst="rect">
            <a:avLst/>
          </a:prstGeom>
          <a:solidFill>
            <a:srgbClr val="3D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395728"/>
            <a:ext cx="283464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101D31"/>
                </a:solidFill>
                <a:latin typeface="Aptos"/>
              </a:rPr>
              <a:t>MODEL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154680"/>
            <a:ext cx="2788920" cy="10972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637080"/>
                </a:solidFill>
                <a:latin typeface="Aptos"/>
              </a:rPr>
              <a:t>A structured comparison of six classification algorithms using five evaluation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4434840"/>
            <a:ext cx="1325880" cy="310896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4503420"/>
            <a:ext cx="1216152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108F85"/>
                </a:solidFill>
                <a:latin typeface="Aptos"/>
              </a:rPr>
              <a:t>PROJECT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2011680"/>
            <a:ext cx="336499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2011680"/>
            <a:ext cx="3364992" cy="64008"/>
          </a:xfrm>
          <a:prstGeom prst="rect">
            <a:avLst/>
          </a:prstGeom>
          <a:solidFill>
            <a:srgbClr val="CA9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395728"/>
            <a:ext cx="283464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101D31"/>
                </a:solidFill>
                <a:latin typeface="Aptos"/>
              </a:rPr>
              <a:t>BUSINESS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154680"/>
            <a:ext cx="2788920" cy="10972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637080"/>
                </a:solidFill>
                <a:latin typeface="Aptos"/>
              </a:rPr>
              <a:t>Key churn factors can support more informed customer-retention strategies.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75904" y="4434840"/>
            <a:ext cx="1325880" cy="310896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4503420"/>
            <a:ext cx="1216152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819" b="1">
                <a:solidFill>
                  <a:srgbClr val="108F85"/>
                </a:solidFill>
                <a:latin typeface="Aptos"/>
              </a:rPr>
              <a:t>PROJECT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440680"/>
            <a:ext cx="854964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20" b="1">
                <a:solidFill>
                  <a:srgbClr val="233042"/>
                </a:solidFill>
                <a:latin typeface="Aptos"/>
              </a:rPr>
              <a:t>The abstract describes the system as an efficient and reliable approach for recognizing customers at risk of leaving.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6437376"/>
            <a:ext cx="10927080" cy="10972"/>
          </a:xfrm>
          <a:prstGeom prst="rect">
            <a:avLst/>
          </a:prstGeom>
          <a:solidFill>
            <a:srgbClr val="DD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84048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20" b="1">
                <a:solidFill>
                  <a:srgbClr val="637080"/>
                </a:solidFill>
                <a:latin typeface="Aptos"/>
              </a:rPr>
              <a:t>KL UNIVERSITY  •  DEPARTMENT OF CSE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750" b="1">
                <a:solidFill>
                  <a:srgbClr val="108F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31520"/>
            <a:ext cx="201168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>
                <a:solidFill>
                  <a:srgbClr val="108F85"/>
                </a:solidFill>
                <a:latin typeface="Aptos"/>
              </a:rP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943600" cy="1600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Predict earlier.
Understand better.
Retain smarter.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37560"/>
            <a:ext cx="5486400" cy="8686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350" b="0">
                <a:solidFill>
                  <a:srgbClr val="C2CFDF"/>
                </a:solidFill>
                <a:latin typeface="Aptos"/>
              </a:rPr>
              <a:t>Customer Churn Prediction applies data preprocessing, EDA, machine learning and model evaluation to a real-world business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914400"/>
            <a:ext cx="4069080" cy="4526280"/>
          </a:xfrm>
          <a:prstGeom prst="roundRect">
            <a:avLst/>
          </a:prstGeom>
          <a:solidFill>
            <a:srgbClr val="19293F"/>
          </a:solidFill>
          <a:ln w="9525">
            <a:solidFill>
              <a:srgbClr val="34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325880"/>
            <a:ext cx="182880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PROJECT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755648"/>
            <a:ext cx="2468880" cy="12344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 Vaishnavi
Madhu
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3364992"/>
            <a:ext cx="91440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50" b="1">
                <a:solidFill>
                  <a:srgbClr val="3D69B1"/>
                </a:solidFill>
                <a:latin typeface="Aptos"/>
              </a:rPr>
              <a:t>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703320"/>
            <a:ext cx="2834640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Dr. Shivashri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224528"/>
            <a:ext cx="292608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0">
                <a:solidFill>
                  <a:srgbClr val="C2CFDF"/>
                </a:solidFill>
                <a:latin typeface="Aptos"/>
              </a:rPr>
              <a:t>Engineering Capstone Project –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617720"/>
            <a:ext cx="256032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0">
                <a:solidFill>
                  <a:srgbClr val="C2CFDF"/>
                </a:solidFill>
                <a:latin typeface="Aptos"/>
              </a:rPr>
              <a:t>A.Y. 2026 –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989320"/>
            <a:ext cx="329184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>
                <a:solidFill>
                  <a:srgbClr val="108F85"/>
                </a:solidFill>
                <a:latin typeface="Aptos"/>
              </a:rPr>
              <a:t>THANK YOU  • 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5989320"/>
            <a:ext cx="1920240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900" b="1">
                <a:solidFill>
                  <a:srgbClr val="C2CFDF"/>
                </a:solidFill>
                <a:latin typeface="Aptos"/>
              </a:rPr>
              <a:t>DEPARTMENT OF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